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1" r:id="rId1"/>
    <p:sldMasterId id="2147483672" r:id="rId2"/>
  </p:sldMasterIdLst>
  <p:notesMasterIdLst>
    <p:notesMasterId r:id="rId17"/>
  </p:notesMasterIdLst>
  <p:sldIdLst>
    <p:sldId id="256" r:id="rId3"/>
    <p:sldId id="257" r:id="rId4"/>
    <p:sldId id="269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8" r:id="rId14"/>
    <p:sldId id="267" r:id="rId15"/>
    <p:sldId id="266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6" autoAdjust="0"/>
    <p:restoredTop sz="94660"/>
  </p:normalViewPr>
  <p:slideViewPr>
    <p:cSldViewPr snapToGrid="0">
      <p:cViewPr>
        <p:scale>
          <a:sx n="50" d="100"/>
          <a:sy n="50" d="100"/>
        </p:scale>
        <p:origin x="1760" y="50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2b7494ca5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22b7494ca5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cba8d275a_2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g39cba8d275a_2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7778E678-1B49-5B64-63DC-94C24DD24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cba8d275a_2_54:notes">
            <a:extLst>
              <a:ext uri="{FF2B5EF4-FFF2-40B4-BE49-F238E27FC236}">
                <a16:creationId xmlns:a16="http://schemas.microsoft.com/office/drawing/2014/main" id="{49080022-F49A-FB7F-248B-B5E11C7868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g39cba8d275a_2_54:notes">
            <a:extLst>
              <a:ext uri="{FF2B5EF4-FFF2-40B4-BE49-F238E27FC236}">
                <a16:creationId xmlns:a16="http://schemas.microsoft.com/office/drawing/2014/main" id="{334FFC90-E2FB-CEB7-C33E-5227406D80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52829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cba8d275a_2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g39cba8d275a_2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cba8d275a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g39cba8d275a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cba8d275a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g39cba8d275a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cba8d275a_2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g39cba8d275a_2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cba8d275a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g39cba8d275a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cba8d275a_2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g39cba8d275a_2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cba8d275a_2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9cba8d275a_2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cba8d275a_2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g39cba8d275a_2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>
          <a:extLst>
            <a:ext uri="{FF2B5EF4-FFF2-40B4-BE49-F238E27FC236}">
              <a16:creationId xmlns:a16="http://schemas.microsoft.com/office/drawing/2014/main" id="{64C063D3-69A4-81BD-7B56-4F3E60498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cba8d275a_2_94:notes">
            <a:extLst>
              <a:ext uri="{FF2B5EF4-FFF2-40B4-BE49-F238E27FC236}">
                <a16:creationId xmlns:a16="http://schemas.microsoft.com/office/drawing/2014/main" id="{7342217D-8138-F5F0-7B35-16CCA2CA89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g39cba8d275a_2_94:notes">
            <a:extLst>
              <a:ext uri="{FF2B5EF4-FFF2-40B4-BE49-F238E27FC236}">
                <a16:creationId xmlns:a16="http://schemas.microsoft.com/office/drawing/2014/main" id="{5F0A7D1D-B205-2EA7-5BC8-21827BC7A2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72611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>
          <a:extLst>
            <a:ext uri="{FF2B5EF4-FFF2-40B4-BE49-F238E27FC236}">
              <a16:creationId xmlns:a16="http://schemas.microsoft.com/office/drawing/2014/main" id="{64C063D3-69A4-81BD-7B56-4F3E60498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cba8d275a_2_94:notes">
            <a:extLst>
              <a:ext uri="{FF2B5EF4-FFF2-40B4-BE49-F238E27FC236}">
                <a16:creationId xmlns:a16="http://schemas.microsoft.com/office/drawing/2014/main" id="{7342217D-8138-F5F0-7B35-16CCA2CA89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g39cba8d275a_2_94:notes">
            <a:extLst>
              <a:ext uri="{FF2B5EF4-FFF2-40B4-BE49-F238E27FC236}">
                <a16:creationId xmlns:a16="http://schemas.microsoft.com/office/drawing/2014/main" id="{5F0A7D1D-B205-2EA7-5BC8-21827BC7A2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72611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cba8d275a_2_9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0" name="Google Shape;160;g39cba8d275a_2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>
  <p:cSld name="TITLE_AND_BODY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91" name="Google Shape;91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4" name="Google Shape;94;p25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5" name="Google Shape;95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 title="hackathon 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39" y="-4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 txBox="1"/>
          <p:nvPr/>
        </p:nvSpPr>
        <p:spPr>
          <a:xfrm>
            <a:off x="310163" y="3109709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80000"/>
              </a:lnSpc>
            </a:pPr>
            <a:r>
              <a:rPr lang="en-GB" sz="1700">
                <a:solidFill>
                  <a:srgbClr val="202729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Team Name :  </a:t>
            </a:r>
            <a:r>
              <a:rPr lang="en-IN" b="1" err="1"/>
              <a:t>NinzaNova</a:t>
            </a:r>
            <a:endParaRPr sz="1700">
              <a:solidFill>
                <a:srgbClr val="202729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57" name="Google Shape;57;p14"/>
          <p:cNvSpPr txBox="1"/>
          <p:nvPr/>
        </p:nvSpPr>
        <p:spPr>
          <a:xfrm>
            <a:off x="328730" y="4350723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lnSpc>
                <a:spcPct val="70000"/>
              </a:lnSpc>
            </a:pPr>
            <a:r>
              <a:rPr lang="en-GB" sz="1700" dirty="0">
                <a:solidFill>
                  <a:srgbClr val="202729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Problem Statement: </a:t>
            </a:r>
            <a:r>
              <a:rPr lang="en-US" b="1" dirty="0" err="1"/>
              <a:t>Personalised</a:t>
            </a:r>
            <a:r>
              <a:rPr lang="en-US" b="1" dirty="0"/>
              <a:t> Trip Planner with AI</a:t>
            </a:r>
          </a:p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rgbClr val="202729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58" name="Google Shape;58;p14"/>
          <p:cNvSpPr txBox="1"/>
          <p:nvPr/>
        </p:nvSpPr>
        <p:spPr>
          <a:xfrm>
            <a:off x="328730" y="3553409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lnSpc>
                <a:spcPct val="80000"/>
              </a:lnSpc>
            </a:pPr>
            <a:r>
              <a:rPr lang="en-GB" sz="1700" dirty="0">
                <a:solidFill>
                  <a:srgbClr val="202729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Team Leader Name : </a:t>
            </a:r>
            <a:r>
              <a:rPr lang="en-GB" sz="1700" b="1" dirty="0">
                <a:solidFill>
                  <a:schemeClr val="tx1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Aditya Chauhan</a:t>
            </a:r>
          </a:p>
          <a:p>
            <a:pPr>
              <a:lnSpc>
                <a:spcPct val="80000"/>
              </a:lnSpc>
            </a:pPr>
            <a:endParaRPr sz="1700" dirty="0">
              <a:solidFill>
                <a:srgbClr val="202729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" name="Google Shape;57;p14">
            <a:extLst>
              <a:ext uri="{FF2B5EF4-FFF2-40B4-BE49-F238E27FC236}">
                <a16:creationId xmlns:a16="http://schemas.microsoft.com/office/drawing/2014/main" id="{E316638C-2A70-DD66-8AB2-65C5B349B94E}"/>
              </a:ext>
            </a:extLst>
          </p:cNvPr>
          <p:cNvSpPr txBox="1"/>
          <p:nvPr/>
        </p:nvSpPr>
        <p:spPr>
          <a:xfrm>
            <a:off x="328730" y="3907023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lnSpc>
                <a:spcPct val="70000"/>
              </a:lnSpc>
            </a:pPr>
            <a:r>
              <a:rPr lang="en-GB" sz="1700" dirty="0">
                <a:solidFill>
                  <a:srgbClr val="202729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Team Members: </a:t>
            </a:r>
            <a:r>
              <a:rPr lang="en-IN" b="1" dirty="0"/>
              <a:t>Supreeth Chandrashekhar, Bharath Shivashankar</a:t>
            </a:r>
          </a:p>
          <a:p>
            <a:pPr>
              <a:lnSpc>
                <a:spcPct val="70000"/>
              </a:lnSpc>
            </a:pPr>
            <a:endParaRPr lang="en-IN" b="1" dirty="0"/>
          </a:p>
          <a:p>
            <a:pPr>
              <a:lnSpc>
                <a:spcPct val="70000"/>
              </a:lnSpc>
            </a:pPr>
            <a:endParaRPr lang="en-US" b="1" dirty="0"/>
          </a:p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rgbClr val="202729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7" title="hackathon 5 – 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0825" y="-4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7"/>
          <p:cNvSpPr txBox="1"/>
          <p:nvPr/>
        </p:nvSpPr>
        <p:spPr>
          <a:xfrm>
            <a:off x="1006572" y="3201296"/>
            <a:ext cx="8520600" cy="40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906464-9A06-8D30-F47D-5399486AF3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9207" y="877626"/>
            <a:ext cx="2267513" cy="3195897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B9CE2ADB-91F9-E3BE-1B7A-3DCD1A9E65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710935"/>
            <a:ext cx="8141972" cy="7879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5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5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5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5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5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5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5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5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5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5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5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Triplix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– AI Travel Assistant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1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Your Smart Travel Companion Powered by Google AI</a:t>
            </a:r>
            <a:endParaRPr kumimoji="0" lang="en-US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Tagline: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"Plan &amp; Book Your Dream Trip in Minutes, Not Hours"</a:t>
            </a: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What is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Triplix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Triplix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is a next-gen AI-powered travel assistant that transforms trip planning into a fast, personalized, and enjoyable experience. It combines: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AI Chat + Voice Input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for natural, conversational planning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Swipe-Based Selection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for hotels, transport &amp; destinations (Tinder-style)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Real-Time Flight/Train Suggestions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with live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Google Maps Integration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for location-based planning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Day-by-Day Itinerary Builder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with AI optimization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Continuous Learning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from user preferences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Mock Booking System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with PNRs, booking IDs &amp; payment summary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Hack2Skill Hackathon 2025 | Team 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Triplix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| Powered by Google Technologies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6C6A78E-BD6A-4581-703F-5BA62EDC9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7" title="hackathon 5 – 2.png">
            <a:extLst>
              <a:ext uri="{FF2B5EF4-FFF2-40B4-BE49-F238E27FC236}">
                <a16:creationId xmlns:a16="http://schemas.microsoft.com/office/drawing/2014/main" id="{0A8BD33A-F807-0FD5-148C-A24367A0E73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49118" y="-96178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7">
            <a:extLst>
              <a:ext uri="{FF2B5EF4-FFF2-40B4-BE49-F238E27FC236}">
                <a16:creationId xmlns:a16="http://schemas.microsoft.com/office/drawing/2014/main" id="{EF41011B-24D1-933B-6B58-1E242B9A4347}"/>
              </a:ext>
            </a:extLst>
          </p:cNvPr>
          <p:cNvSpPr txBox="1"/>
          <p:nvPr/>
        </p:nvSpPr>
        <p:spPr>
          <a:xfrm>
            <a:off x="1006572" y="3201296"/>
            <a:ext cx="8520600" cy="40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03FDF50-573B-E335-7FFC-1295A2911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280" y="361657"/>
            <a:ext cx="7100021" cy="4001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8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Core Innovation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Unlike traditional travel apps, </a:t>
            </a:r>
            <a:r>
              <a:rPr lang="en-US" altLang="en-US" sz="18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Triplix</a:t>
            </a:r>
            <a:r>
              <a:rPr lang="en-US" altLang="en-US" sz="1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offers: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Voice &amp; Text AI</a:t>
            </a:r>
            <a:r>
              <a:rPr lang="en-US" altLang="en-US" sz="1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– Just talk to </a:t>
            </a:r>
            <a:r>
              <a:rPr lang="en-US" altLang="en-US" sz="18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Triplix</a:t>
            </a:r>
            <a:r>
              <a:rPr lang="en-US" altLang="en-US" sz="1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like a friend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Swipe to Decide</a:t>
            </a:r>
            <a:r>
              <a:rPr lang="en-US" altLang="en-US" sz="1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– Make quick, visual choices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AI Does the Work</a:t>
            </a:r>
            <a:r>
              <a:rPr lang="en-US" altLang="en-US" sz="1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– Personalized suggestions based on your style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Learns from You</a:t>
            </a:r>
            <a:r>
              <a:rPr lang="en-US" altLang="en-US" sz="1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– Gets smarter with every swipe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8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Built With Google Technologies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Gemini 2.0 Flash AI</a:t>
            </a:r>
            <a:r>
              <a:rPr lang="en-US" altLang="en-US" sz="1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– Multi-agent architecture for personalization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Google Maps API</a:t>
            </a:r>
            <a:r>
              <a:rPr lang="en-US" altLang="en-US" sz="1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– Real-time location services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Flutter</a:t>
            </a:r>
            <a:r>
              <a:rPr lang="en-US" altLang="en-US" sz="1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– Cross-platform mobile development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Firebase</a:t>
            </a:r>
            <a:r>
              <a:rPr lang="en-US" altLang="en-US" sz="1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– Real-time sync &amp; authentication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Google Cloud (Ready)</a:t>
            </a:r>
            <a:r>
              <a:rPr lang="en-US" altLang="en-US" sz="1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– Scalable backend infrastructure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Footer: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5329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8" title="hackathon 5 – 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8"/>
          <p:cNvSpPr txBox="1"/>
          <p:nvPr/>
        </p:nvSpPr>
        <p:spPr>
          <a:xfrm>
            <a:off x="311700" y="954000"/>
            <a:ext cx="8520600" cy="40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D4588B-E3B3-7B67-7B15-3B48AAD146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000" y="625062"/>
            <a:ext cx="8520600" cy="38933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Slide Title: Innovation, Impact &amp; Alignment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3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What’s New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AI + Swipe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No filters, just swipe to choose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Multi-Agent Chat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One chat handles all planning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Real-Time Transport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AI generates flights/trains instantly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Voice Planning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Speak your trip, AI does the rest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3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Checkpoint </a:t>
            </a:r>
            <a:r>
              <a:rPr lang="en-US" altLang="en-US" sz="13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traker</a:t>
            </a:r>
            <a:r>
              <a:rPr lang="en-US" altLang="en-US" sz="13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so </a:t>
            </a:r>
            <a:r>
              <a:rPr lang="en-US" altLang="en-US" sz="13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</a:t>
            </a:r>
            <a:r>
              <a:rPr lang="en-US" altLang="en-US" sz="13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you have entered all the information properly.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3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Theme Fit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Uses Gemini AI for chat, voice, personalization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Fully aligned with Conversational AI for Travel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3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Who Benefits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Families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No more planning stress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Professionals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Plan in 5 minutes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New Travelers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Trusted suggestions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Economic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Save ₹5K–₹10K + time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9" title="hackathon 5 – 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9"/>
          <p:cNvSpPr txBox="1"/>
          <p:nvPr/>
        </p:nvSpPr>
        <p:spPr>
          <a:xfrm>
            <a:off x="311700" y="954000"/>
            <a:ext cx="8520600" cy="40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Working product &amp; demo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●"/>
            </a:pPr>
            <a:r>
              <a:rPr lang="en-GB" sz="1600">
                <a:solidFill>
                  <a:schemeClr val="dk2"/>
                </a:solidFill>
              </a:rPr>
              <a:t>Does the full journey run end-to-end without breaking?</a:t>
            </a:r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●"/>
            </a:pPr>
            <a:r>
              <a:rPr lang="en-GB" sz="1600">
                <a:solidFill>
                  <a:schemeClr val="dk2"/>
                </a:solidFill>
              </a:rPr>
              <a:t>Link to your demo video (3 min) showcasing walkthrough of your product &amp; its features</a:t>
            </a:r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30" title="hackathon 5 – 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30"/>
          <p:cNvSpPr txBox="1"/>
          <p:nvPr/>
        </p:nvSpPr>
        <p:spPr>
          <a:xfrm>
            <a:off x="67377" y="269507"/>
            <a:ext cx="3334752" cy="453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b="1" dirty="0"/>
              <a:t>Process Flow (user journey)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dirty="0"/>
              <a:t>1. Voice/Text Query → "Plan trip to Goa"</a:t>
            </a:r>
          </a:p>
          <a:p>
            <a:pPr lvl="0">
              <a:lnSpc>
                <a:spcPct val="115000"/>
              </a:lnSpc>
              <a:spcBef>
                <a:spcPts val="1200"/>
              </a:spcBef>
              <a:buSzPts val="1600"/>
            </a:pPr>
            <a:r>
              <a:rPr lang="en-GB" dirty="0"/>
              <a:t>   Value: Instant understanding</a:t>
            </a:r>
          </a:p>
          <a:p>
            <a:pPr lvl="0">
              <a:lnSpc>
                <a:spcPct val="115000"/>
              </a:lnSpc>
              <a:spcBef>
                <a:spcPts val="1200"/>
              </a:spcBef>
              <a:buSzPts val="1600"/>
            </a:pPr>
            <a:r>
              <a:rPr lang="en-GB" dirty="0"/>
              <a:t>2. Swipe Hotels → Accept 2/5 options</a:t>
            </a:r>
          </a:p>
          <a:p>
            <a:pPr lvl="0">
              <a:lnSpc>
                <a:spcPct val="115000"/>
              </a:lnSpc>
              <a:spcBef>
                <a:spcPts val="1200"/>
              </a:spcBef>
              <a:buSzPts val="1600"/>
            </a:pPr>
            <a:r>
              <a:rPr lang="en-GB" dirty="0"/>
              <a:t>   Value: Visual, quick decisions</a:t>
            </a:r>
          </a:p>
          <a:p>
            <a:pPr lvl="0">
              <a:lnSpc>
                <a:spcPct val="115000"/>
              </a:lnSpc>
              <a:spcBef>
                <a:spcPts val="1200"/>
              </a:spcBef>
              <a:buSzPts val="1600"/>
            </a:pPr>
            <a:r>
              <a:rPr lang="en-GB" dirty="0"/>
              <a:t>3. Swipe Transport → AI shows 6 options (flights/trains)</a:t>
            </a:r>
          </a:p>
          <a:p>
            <a:pPr lvl="0">
              <a:lnSpc>
                <a:spcPct val="115000"/>
              </a:lnSpc>
              <a:spcBef>
                <a:spcPts val="1200"/>
              </a:spcBef>
              <a:buSzPts val="1600"/>
            </a:pPr>
            <a:r>
              <a:rPr lang="en-GB" dirty="0"/>
              <a:t>   Value: Real options with prices</a:t>
            </a:r>
          </a:p>
          <a:p>
            <a:pPr lvl="0">
              <a:lnSpc>
                <a:spcPct val="115000"/>
              </a:lnSpc>
              <a:spcBef>
                <a:spcPts val="1200"/>
              </a:spcBef>
              <a:buSzPts val="1600"/>
            </a:pPr>
            <a:r>
              <a:rPr lang="en-GB" dirty="0"/>
              <a:t>4. Swipe Destinations → Pick activities</a:t>
            </a:r>
          </a:p>
          <a:p>
            <a:pPr lvl="0">
              <a:lnSpc>
                <a:spcPct val="115000"/>
              </a:lnSpc>
              <a:spcBef>
                <a:spcPts val="1200"/>
              </a:spcBef>
              <a:buSzPts val="1600"/>
            </a:pPr>
            <a:r>
              <a:rPr lang="en-GB" dirty="0"/>
              <a:t>   Value: Curated attractions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C6A3F1-9CD5-5A9B-46B6-5BA3C000278A}"/>
              </a:ext>
            </a:extLst>
          </p:cNvPr>
          <p:cNvSpPr txBox="1"/>
          <p:nvPr/>
        </p:nvSpPr>
        <p:spPr>
          <a:xfrm>
            <a:off x="5603132" y="794340"/>
            <a:ext cx="2684834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15000"/>
              </a:lnSpc>
              <a:spcBef>
                <a:spcPts val="1200"/>
              </a:spcBef>
              <a:buSzPts val="1600"/>
            </a:pPr>
            <a:r>
              <a:rPr lang="en-GB" dirty="0"/>
              <a:t>5. AI Generates Itinerary → 15-20 seconds</a:t>
            </a:r>
          </a:p>
          <a:p>
            <a:pPr lvl="0">
              <a:lnSpc>
                <a:spcPct val="115000"/>
              </a:lnSpc>
              <a:spcBef>
                <a:spcPts val="1200"/>
              </a:spcBef>
              <a:buSzPts val="1600"/>
            </a:pPr>
            <a:r>
              <a:rPr lang="en-GB" dirty="0"/>
              <a:t>   Value: Complete day-by-day plan</a:t>
            </a:r>
          </a:p>
          <a:p>
            <a:pPr lvl="0">
              <a:lnSpc>
                <a:spcPct val="115000"/>
              </a:lnSpc>
              <a:spcBef>
                <a:spcPts val="1200"/>
              </a:spcBef>
              <a:buSzPts val="1600"/>
            </a:pPr>
            <a:r>
              <a:rPr lang="en-GB" dirty="0"/>
              <a:t>6. Book Everything → Animated confirmation</a:t>
            </a:r>
          </a:p>
          <a:p>
            <a:pPr lvl="0">
              <a:lnSpc>
                <a:spcPct val="115000"/>
              </a:lnSpc>
              <a:spcBef>
                <a:spcPts val="1200"/>
              </a:spcBef>
              <a:buSzPts val="1600"/>
            </a:pPr>
            <a:r>
              <a:rPr lang="en-GB" dirty="0"/>
              <a:t>   Value: Booking IDs, PNRs, payment summary</a:t>
            </a:r>
          </a:p>
          <a:p>
            <a:pPr lvl="0">
              <a:lnSpc>
                <a:spcPct val="115000"/>
              </a:lnSpc>
              <a:spcBef>
                <a:spcPts val="1200"/>
              </a:spcBef>
              <a:buSzPts val="1600"/>
            </a:pPr>
            <a:endParaRPr lang="en-GB" dirty="0"/>
          </a:p>
          <a:p>
            <a:pPr lvl="0">
              <a:lnSpc>
                <a:spcPct val="115000"/>
              </a:lnSpc>
              <a:spcBef>
                <a:spcPts val="1200"/>
              </a:spcBef>
              <a:buSzPts val="1600"/>
            </a:pPr>
            <a:r>
              <a:rPr lang="en-GB" dirty="0"/>
              <a:t>Total time: 5 minutes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31" title="hackathon 5 – 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31"/>
          <p:cNvSpPr txBox="1"/>
          <p:nvPr/>
        </p:nvSpPr>
        <p:spPr>
          <a:xfrm>
            <a:off x="464100" y="1106400"/>
            <a:ext cx="8520600" cy="40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Architecture Diagram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●"/>
            </a:pPr>
            <a:r>
              <a:rPr lang="en-GB" sz="1600">
                <a:solidFill>
                  <a:schemeClr val="dk2"/>
                </a:solidFill>
              </a:rPr>
              <a:t>What are the main parts behind the scenes?</a:t>
            </a:r>
            <a:endParaRPr sz="1600">
              <a:solidFill>
                <a:schemeClr val="dk2"/>
              </a:solidFill>
            </a:endParaRPr>
          </a:p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-GB" sz="1600">
                <a:solidFill>
                  <a:schemeClr val="dk2"/>
                </a:solidFill>
              </a:rPr>
              <a:t>How do these parts talk to each other?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32" title="hackathon 5 – 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32"/>
          <p:cNvSpPr txBox="1"/>
          <p:nvPr/>
        </p:nvSpPr>
        <p:spPr>
          <a:xfrm>
            <a:off x="150833" y="1082700"/>
            <a:ext cx="8520600" cy="40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33" title="hackathon 5 – 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135" y="18848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33"/>
          <p:cNvSpPr txBox="1"/>
          <p:nvPr/>
        </p:nvSpPr>
        <p:spPr>
          <a:xfrm>
            <a:off x="163287" y="743191"/>
            <a:ext cx="5029200" cy="4070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47500" lnSpcReduction="2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dirty="0">
                <a:solidFill>
                  <a:schemeClr val="dk1"/>
                </a:solidFill>
              </a:rPr>
              <a:t>Tech Stack</a:t>
            </a:r>
          </a:p>
          <a:p>
            <a:pPr marL="127000" lvl="0">
              <a:lnSpc>
                <a:spcPct val="115000"/>
              </a:lnSpc>
              <a:buClr>
                <a:schemeClr val="dk2"/>
              </a:buClr>
              <a:buSzPts val="1600"/>
            </a:pPr>
            <a:r>
              <a:rPr lang="en-IN" sz="1600" dirty="0">
                <a:solidFill>
                  <a:schemeClr val="dk2"/>
                </a:solidFill>
              </a:rPr>
              <a:t>┌────────────────────────────────────────────────────────────┐</a:t>
            </a:r>
          </a:p>
          <a:p>
            <a:pPr marL="127000" lvl="0">
              <a:lnSpc>
                <a:spcPct val="115000"/>
              </a:lnSpc>
              <a:buClr>
                <a:schemeClr val="dk2"/>
              </a:buClr>
              <a:buSzPts val="1600"/>
            </a:pPr>
            <a:r>
              <a:rPr lang="en-IN" sz="1600" dirty="0">
                <a:solidFill>
                  <a:schemeClr val="dk2"/>
                </a:solidFill>
              </a:rPr>
              <a:t>│                    TECH STACK OVERVIEW                      │</a:t>
            </a:r>
          </a:p>
          <a:p>
            <a:pPr marL="127000" lvl="0">
              <a:lnSpc>
                <a:spcPct val="115000"/>
              </a:lnSpc>
              <a:buClr>
                <a:schemeClr val="dk2"/>
              </a:buClr>
              <a:buSzPts val="1600"/>
            </a:pPr>
            <a:r>
              <a:rPr lang="en-IN" sz="1600" dirty="0">
                <a:solidFill>
                  <a:schemeClr val="dk2"/>
                </a:solidFill>
              </a:rPr>
              <a:t>└────────────────────────────────────────────────────────────┘</a:t>
            </a:r>
          </a:p>
          <a:p>
            <a:pPr marL="127000" lvl="0">
              <a:lnSpc>
                <a:spcPct val="115000"/>
              </a:lnSpc>
              <a:buClr>
                <a:schemeClr val="dk2"/>
              </a:buClr>
              <a:buSzPts val="1600"/>
            </a:pPr>
            <a:endParaRPr lang="en-IN" sz="1600" dirty="0">
              <a:solidFill>
                <a:schemeClr val="dk2"/>
              </a:solidFill>
            </a:endParaRPr>
          </a:p>
          <a:p>
            <a:pPr marL="127000" lvl="0">
              <a:lnSpc>
                <a:spcPct val="115000"/>
              </a:lnSpc>
              <a:buClr>
                <a:schemeClr val="dk2"/>
              </a:buClr>
              <a:buSzPts val="1600"/>
            </a:pPr>
            <a:r>
              <a:rPr lang="en-IN" sz="1600" dirty="0">
                <a:solidFill>
                  <a:schemeClr val="dk2"/>
                </a:solidFill>
              </a:rPr>
              <a:t>FRONTEND (Mobile &amp; Web)</a:t>
            </a:r>
          </a:p>
          <a:p>
            <a:pPr marL="127000" lvl="0">
              <a:lnSpc>
                <a:spcPct val="115000"/>
              </a:lnSpc>
              <a:buClr>
                <a:schemeClr val="dk2"/>
              </a:buClr>
              <a:buSzPts val="1600"/>
            </a:pPr>
            <a:r>
              <a:rPr lang="en-IN" sz="1600" dirty="0">
                <a:solidFill>
                  <a:schemeClr val="dk2"/>
                </a:solidFill>
              </a:rPr>
              <a:t>├─ Flutter 3.16+ (Cross-platform framework)</a:t>
            </a:r>
          </a:p>
          <a:p>
            <a:pPr marL="127000" lvl="0">
              <a:lnSpc>
                <a:spcPct val="115000"/>
              </a:lnSpc>
              <a:buClr>
                <a:schemeClr val="dk2"/>
              </a:buClr>
              <a:buSzPts val="1600"/>
            </a:pPr>
            <a:r>
              <a:rPr lang="en-IN" sz="1600" dirty="0">
                <a:solidFill>
                  <a:schemeClr val="dk2"/>
                </a:solidFill>
              </a:rPr>
              <a:t>├─ Dart (Programming language)</a:t>
            </a:r>
          </a:p>
          <a:p>
            <a:pPr marL="127000" lvl="0">
              <a:lnSpc>
                <a:spcPct val="115000"/>
              </a:lnSpc>
              <a:buClr>
                <a:schemeClr val="dk2"/>
              </a:buClr>
              <a:buSzPts val="1600"/>
            </a:pPr>
            <a:r>
              <a:rPr lang="en-IN" sz="1600" dirty="0">
                <a:solidFill>
                  <a:schemeClr val="dk2"/>
                </a:solidFill>
              </a:rPr>
              <a:t>├─ Provider (State management)</a:t>
            </a:r>
          </a:p>
          <a:p>
            <a:pPr marL="127000" lvl="0">
              <a:lnSpc>
                <a:spcPct val="115000"/>
              </a:lnSpc>
              <a:buClr>
                <a:schemeClr val="dk2"/>
              </a:buClr>
              <a:buSzPts val="1600"/>
            </a:pPr>
            <a:r>
              <a:rPr lang="en-IN" sz="1600" dirty="0">
                <a:solidFill>
                  <a:schemeClr val="dk2"/>
                </a:solidFill>
              </a:rPr>
              <a:t>├─ HTTP Client (API communication)</a:t>
            </a:r>
          </a:p>
          <a:p>
            <a:pPr marL="127000" lvl="0">
              <a:lnSpc>
                <a:spcPct val="115000"/>
              </a:lnSpc>
              <a:buClr>
                <a:schemeClr val="dk2"/>
              </a:buClr>
              <a:buSzPts val="1600"/>
            </a:pPr>
            <a:r>
              <a:rPr lang="en-IN" sz="1600" dirty="0">
                <a:solidFill>
                  <a:schemeClr val="dk2"/>
                </a:solidFill>
              </a:rPr>
              <a:t>├─ </a:t>
            </a:r>
            <a:r>
              <a:rPr lang="en-IN" sz="1600" dirty="0" err="1">
                <a:solidFill>
                  <a:schemeClr val="dk2"/>
                </a:solidFill>
              </a:rPr>
              <a:t>flutter_card_swiper</a:t>
            </a:r>
            <a:r>
              <a:rPr lang="en-IN" sz="1600" dirty="0">
                <a:solidFill>
                  <a:schemeClr val="dk2"/>
                </a:solidFill>
              </a:rPr>
              <a:t> (Swipe interface)</a:t>
            </a:r>
          </a:p>
          <a:p>
            <a:pPr marL="127000" lvl="0">
              <a:lnSpc>
                <a:spcPct val="115000"/>
              </a:lnSpc>
              <a:buClr>
                <a:schemeClr val="dk2"/>
              </a:buClr>
              <a:buSzPts val="1600"/>
            </a:pPr>
            <a:r>
              <a:rPr lang="en-IN" sz="1600" dirty="0">
                <a:solidFill>
                  <a:schemeClr val="dk2"/>
                </a:solidFill>
              </a:rPr>
              <a:t>├─ </a:t>
            </a:r>
            <a:r>
              <a:rPr lang="en-IN" sz="1600" dirty="0" err="1">
                <a:solidFill>
                  <a:schemeClr val="dk2"/>
                </a:solidFill>
              </a:rPr>
              <a:t>google_fonts</a:t>
            </a:r>
            <a:r>
              <a:rPr lang="en-IN" sz="1600" dirty="0">
                <a:solidFill>
                  <a:schemeClr val="dk2"/>
                </a:solidFill>
              </a:rPr>
              <a:t> (Typography)</a:t>
            </a:r>
          </a:p>
          <a:p>
            <a:pPr marL="127000" lvl="0">
              <a:lnSpc>
                <a:spcPct val="115000"/>
              </a:lnSpc>
              <a:buClr>
                <a:schemeClr val="dk2"/>
              </a:buClr>
              <a:buSzPts val="1600"/>
            </a:pPr>
            <a:r>
              <a:rPr lang="en-IN" sz="1600" dirty="0">
                <a:solidFill>
                  <a:schemeClr val="dk2"/>
                </a:solidFill>
              </a:rPr>
              <a:t>└─ Material Design 3 (UI components)</a:t>
            </a:r>
          </a:p>
          <a:p>
            <a:pPr marL="127000" lvl="0">
              <a:lnSpc>
                <a:spcPct val="115000"/>
              </a:lnSpc>
              <a:buClr>
                <a:schemeClr val="dk2"/>
              </a:buClr>
              <a:buSzPts val="1600"/>
            </a:pPr>
            <a:endParaRPr lang="en-IN" sz="1600" dirty="0">
              <a:solidFill>
                <a:schemeClr val="dk2"/>
              </a:solidFill>
            </a:endParaRPr>
          </a:p>
          <a:p>
            <a:pPr marL="127000" lvl="0">
              <a:lnSpc>
                <a:spcPct val="115000"/>
              </a:lnSpc>
              <a:buClr>
                <a:schemeClr val="dk2"/>
              </a:buClr>
              <a:buSzPts val="1600"/>
            </a:pPr>
            <a:r>
              <a:rPr lang="en-IN" sz="1600" dirty="0">
                <a:solidFill>
                  <a:schemeClr val="dk2"/>
                </a:solidFill>
              </a:rPr>
              <a:t>BACKEND (API Server)</a:t>
            </a:r>
          </a:p>
          <a:p>
            <a:pPr marL="127000" lvl="0">
              <a:lnSpc>
                <a:spcPct val="115000"/>
              </a:lnSpc>
              <a:buClr>
                <a:schemeClr val="dk2"/>
              </a:buClr>
              <a:buSzPts val="1600"/>
            </a:pPr>
            <a:r>
              <a:rPr lang="en-IN" sz="1600" dirty="0">
                <a:solidFill>
                  <a:schemeClr val="dk2"/>
                </a:solidFill>
              </a:rPr>
              <a:t>├─ </a:t>
            </a:r>
            <a:r>
              <a:rPr lang="en-IN" sz="1600" dirty="0" err="1">
                <a:solidFill>
                  <a:schemeClr val="dk2"/>
                </a:solidFill>
              </a:rPr>
              <a:t>FastAPI</a:t>
            </a:r>
            <a:r>
              <a:rPr lang="en-IN" sz="1600" dirty="0">
                <a:solidFill>
                  <a:schemeClr val="dk2"/>
                </a:solidFill>
              </a:rPr>
              <a:t> (Python web framework)</a:t>
            </a:r>
          </a:p>
          <a:p>
            <a:pPr marL="127000" lvl="0">
              <a:lnSpc>
                <a:spcPct val="115000"/>
              </a:lnSpc>
              <a:buClr>
                <a:schemeClr val="dk2"/>
              </a:buClr>
              <a:buSzPts val="1600"/>
            </a:pPr>
            <a:r>
              <a:rPr lang="en-IN" sz="1600" dirty="0">
                <a:solidFill>
                  <a:schemeClr val="dk2"/>
                </a:solidFill>
              </a:rPr>
              <a:t>├─ Python 3.10+ (Runtime)</a:t>
            </a:r>
          </a:p>
          <a:p>
            <a:pPr marL="127000" lvl="0">
              <a:lnSpc>
                <a:spcPct val="115000"/>
              </a:lnSpc>
              <a:buClr>
                <a:schemeClr val="dk2"/>
              </a:buClr>
              <a:buSzPts val="1600"/>
            </a:pPr>
            <a:r>
              <a:rPr lang="en-IN" sz="1600" dirty="0">
                <a:solidFill>
                  <a:schemeClr val="dk2"/>
                </a:solidFill>
              </a:rPr>
              <a:t>├─ </a:t>
            </a:r>
            <a:r>
              <a:rPr lang="en-IN" sz="1600" dirty="0" err="1">
                <a:solidFill>
                  <a:schemeClr val="dk2"/>
                </a:solidFill>
              </a:rPr>
              <a:t>Uvicorn</a:t>
            </a:r>
            <a:r>
              <a:rPr lang="en-IN" sz="1600" dirty="0">
                <a:solidFill>
                  <a:schemeClr val="dk2"/>
                </a:solidFill>
              </a:rPr>
              <a:t> (ASGI server)</a:t>
            </a:r>
          </a:p>
          <a:p>
            <a:pPr marL="127000" lvl="0">
              <a:lnSpc>
                <a:spcPct val="115000"/>
              </a:lnSpc>
              <a:buClr>
                <a:schemeClr val="dk2"/>
              </a:buClr>
              <a:buSzPts val="1600"/>
            </a:pPr>
            <a:r>
              <a:rPr lang="en-IN" sz="1600" dirty="0">
                <a:solidFill>
                  <a:schemeClr val="dk2"/>
                </a:solidFill>
              </a:rPr>
              <a:t>├─ </a:t>
            </a:r>
            <a:r>
              <a:rPr lang="en-IN" sz="1600" dirty="0" err="1">
                <a:solidFill>
                  <a:schemeClr val="dk2"/>
                </a:solidFill>
              </a:rPr>
              <a:t>Pydantic</a:t>
            </a:r>
            <a:r>
              <a:rPr lang="en-IN" sz="1600" dirty="0">
                <a:solidFill>
                  <a:schemeClr val="dk2"/>
                </a:solidFill>
              </a:rPr>
              <a:t> (Data validation)</a:t>
            </a:r>
          </a:p>
          <a:p>
            <a:pPr marL="127000" lvl="0">
              <a:lnSpc>
                <a:spcPct val="115000"/>
              </a:lnSpc>
              <a:buClr>
                <a:schemeClr val="dk2"/>
              </a:buClr>
              <a:buSzPts val="1600"/>
            </a:pPr>
            <a:r>
              <a:rPr lang="en-IN" sz="1600" dirty="0">
                <a:solidFill>
                  <a:schemeClr val="dk2"/>
                </a:solidFill>
              </a:rPr>
              <a:t>├─ </a:t>
            </a:r>
            <a:r>
              <a:rPr lang="en-IN" sz="1600" dirty="0" err="1">
                <a:solidFill>
                  <a:schemeClr val="dk2"/>
                </a:solidFill>
              </a:rPr>
              <a:t>asyncio</a:t>
            </a:r>
            <a:r>
              <a:rPr lang="en-IN" sz="1600" dirty="0">
                <a:solidFill>
                  <a:schemeClr val="dk2"/>
                </a:solidFill>
              </a:rPr>
              <a:t> (Async processing)</a:t>
            </a:r>
          </a:p>
          <a:p>
            <a:pPr marL="127000" lvl="0">
              <a:lnSpc>
                <a:spcPct val="115000"/>
              </a:lnSpc>
              <a:buClr>
                <a:schemeClr val="dk2"/>
              </a:buClr>
              <a:buSzPts val="1600"/>
            </a:pPr>
            <a:r>
              <a:rPr lang="en-IN" sz="1600" dirty="0">
                <a:solidFill>
                  <a:schemeClr val="dk2"/>
                </a:solidFill>
              </a:rPr>
              <a:t>└─ CORS Middleware (Cross-origin support)</a:t>
            </a:r>
          </a:p>
          <a:p>
            <a:pPr marL="127000" lvl="0">
              <a:lnSpc>
                <a:spcPct val="115000"/>
              </a:lnSpc>
              <a:buClr>
                <a:schemeClr val="dk2"/>
              </a:buClr>
              <a:buSzPts val="1600"/>
            </a:pPr>
            <a:endParaRPr lang="en-IN" sz="1600" dirty="0">
              <a:solidFill>
                <a:schemeClr val="dk2"/>
              </a:solidFill>
            </a:endParaRPr>
          </a:p>
          <a:p>
            <a:pPr marL="127000" lvl="0">
              <a:lnSpc>
                <a:spcPct val="115000"/>
              </a:lnSpc>
              <a:buClr>
                <a:schemeClr val="dk2"/>
              </a:buClr>
              <a:buSzPts val="1600"/>
            </a:pPr>
            <a:r>
              <a:rPr lang="en-IN" sz="1600" dirty="0">
                <a:solidFill>
                  <a:schemeClr val="dk2"/>
                </a:solidFill>
              </a:rPr>
              <a:t>GOOGLE AI INTEGRATION </a:t>
            </a:r>
          </a:p>
          <a:p>
            <a:pPr marL="127000" lvl="0">
              <a:lnSpc>
                <a:spcPct val="115000"/>
              </a:lnSpc>
              <a:buClr>
                <a:schemeClr val="dk2"/>
              </a:buClr>
              <a:buSzPts val="1600"/>
            </a:pPr>
            <a:r>
              <a:rPr lang="en-IN" sz="1600" dirty="0">
                <a:solidFill>
                  <a:schemeClr val="dk2"/>
                </a:solidFill>
              </a:rPr>
              <a:t>├─ Gemini 2.0 Flash Experimental</a:t>
            </a:r>
          </a:p>
          <a:p>
            <a:pPr marL="127000" lvl="0">
              <a:lnSpc>
                <a:spcPct val="115000"/>
              </a:lnSpc>
              <a:buClr>
                <a:schemeClr val="dk2"/>
              </a:buClr>
              <a:buSzPts val="1600"/>
            </a:pPr>
            <a:r>
              <a:rPr lang="en-IN" sz="1600" dirty="0">
                <a:solidFill>
                  <a:schemeClr val="dk2"/>
                </a:solidFill>
              </a:rPr>
              <a:t>│  └─ google-</a:t>
            </a:r>
            <a:r>
              <a:rPr lang="en-IN" sz="1600" dirty="0" err="1">
                <a:solidFill>
                  <a:schemeClr val="dk2"/>
                </a:solidFill>
              </a:rPr>
              <a:t>generativeai</a:t>
            </a:r>
            <a:r>
              <a:rPr lang="en-IN" sz="1600" dirty="0">
                <a:solidFill>
                  <a:schemeClr val="dk2"/>
                </a:solidFill>
              </a:rPr>
              <a:t> library (Python SDK)</a:t>
            </a:r>
          </a:p>
          <a:p>
            <a:pPr marL="127000" lvl="0">
              <a:lnSpc>
                <a:spcPct val="115000"/>
              </a:lnSpc>
              <a:buClr>
                <a:schemeClr val="dk2"/>
              </a:buClr>
              <a:buSzPts val="1600"/>
            </a:pPr>
            <a:r>
              <a:rPr lang="en-IN" sz="1600" dirty="0">
                <a:solidFill>
                  <a:schemeClr val="dk2"/>
                </a:solidFill>
              </a:rPr>
              <a:t>├─ API Key Authentication</a:t>
            </a:r>
          </a:p>
          <a:p>
            <a:pPr marL="127000" lvl="0">
              <a:lnSpc>
                <a:spcPct val="115000"/>
              </a:lnSpc>
              <a:buClr>
                <a:schemeClr val="dk2"/>
              </a:buClr>
              <a:buSzPts val="1600"/>
            </a:pPr>
            <a:r>
              <a:rPr lang="en-IN" sz="1600" dirty="0">
                <a:solidFill>
                  <a:schemeClr val="dk2"/>
                </a:solidFill>
              </a:rPr>
              <a:t>├─ Temperature: 0.7 (balanced creativity)</a:t>
            </a:r>
          </a:p>
          <a:p>
            <a:pPr marL="127000" lvl="0">
              <a:lnSpc>
                <a:spcPct val="115000"/>
              </a:lnSpc>
              <a:buClr>
                <a:schemeClr val="dk2"/>
              </a:buClr>
              <a:buSzPts val="1600"/>
            </a:pPr>
            <a:r>
              <a:rPr lang="en-IN" sz="1600" dirty="0">
                <a:solidFill>
                  <a:schemeClr val="dk2"/>
                </a:solidFill>
              </a:rPr>
              <a:t>├─ Max Tokens: 8000 (long-form generation)</a:t>
            </a:r>
          </a:p>
          <a:p>
            <a:pPr marL="127000" lvl="0">
              <a:lnSpc>
                <a:spcPct val="115000"/>
              </a:lnSpc>
              <a:buClr>
                <a:schemeClr val="dk2"/>
              </a:buClr>
              <a:buSzPts val="1600"/>
            </a:pPr>
            <a:r>
              <a:rPr lang="en-IN" sz="1600" dirty="0">
                <a:solidFill>
                  <a:schemeClr val="dk2"/>
                </a:solidFill>
              </a:rPr>
              <a:t>└─ Safety Settings: Default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BC3649-9335-9F2E-3F3C-3B85090AE3C2}"/>
              </a:ext>
            </a:extLst>
          </p:cNvPr>
          <p:cNvSpPr txBox="1"/>
          <p:nvPr/>
        </p:nvSpPr>
        <p:spPr>
          <a:xfrm>
            <a:off x="5372100" y="394893"/>
            <a:ext cx="3331028" cy="476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0" lvl="0">
              <a:lnSpc>
                <a:spcPct val="115000"/>
              </a:lnSpc>
              <a:buClr>
                <a:schemeClr val="dk2"/>
              </a:buClr>
              <a:buSzPts val="1600"/>
            </a:pPr>
            <a:endParaRPr lang="en-IN" dirty="0">
              <a:solidFill>
                <a:schemeClr val="dk2"/>
              </a:solidFill>
            </a:endParaRPr>
          </a:p>
          <a:p>
            <a:pPr marL="127000" lvl="0">
              <a:lnSpc>
                <a:spcPct val="115000"/>
              </a:lnSpc>
              <a:buClr>
                <a:schemeClr val="dk2"/>
              </a:buClr>
              <a:buSzPts val="1600"/>
            </a:pPr>
            <a:r>
              <a:rPr lang="en-IN" dirty="0">
                <a:solidFill>
                  <a:schemeClr val="dk2"/>
                </a:solidFill>
              </a:rPr>
              <a:t>DATA STORAGE (Current: Mock)</a:t>
            </a:r>
          </a:p>
          <a:p>
            <a:pPr marL="127000" lvl="0">
              <a:lnSpc>
                <a:spcPct val="115000"/>
              </a:lnSpc>
              <a:buClr>
                <a:schemeClr val="dk2"/>
              </a:buClr>
              <a:buSzPts val="1600"/>
            </a:pPr>
            <a:r>
              <a:rPr lang="en-IN" dirty="0">
                <a:solidFill>
                  <a:schemeClr val="dk2"/>
                </a:solidFill>
              </a:rPr>
              <a:t>├─ In-Memory State (Session-based)</a:t>
            </a:r>
          </a:p>
          <a:p>
            <a:pPr marL="127000" lvl="0">
              <a:lnSpc>
                <a:spcPct val="115000"/>
              </a:lnSpc>
              <a:buClr>
                <a:schemeClr val="dk2"/>
              </a:buClr>
              <a:buSzPts val="1600"/>
            </a:pPr>
            <a:r>
              <a:rPr lang="en-IN" dirty="0">
                <a:solidFill>
                  <a:schemeClr val="dk2"/>
                </a:solidFill>
              </a:rPr>
              <a:t>├─ JSON Data Structures</a:t>
            </a:r>
          </a:p>
          <a:p>
            <a:pPr marL="127000" lvl="0">
              <a:lnSpc>
                <a:spcPct val="115000"/>
              </a:lnSpc>
              <a:buClr>
                <a:schemeClr val="dk2"/>
              </a:buClr>
              <a:buSzPts val="1600"/>
            </a:pPr>
            <a:r>
              <a:rPr lang="en-IN" dirty="0">
                <a:solidFill>
                  <a:schemeClr val="dk2"/>
                </a:solidFill>
              </a:rPr>
              <a:t>└─ Future: Firebase / PostgreSQL</a:t>
            </a:r>
          </a:p>
          <a:p>
            <a:pPr marL="127000" lvl="0">
              <a:lnSpc>
                <a:spcPct val="115000"/>
              </a:lnSpc>
              <a:buClr>
                <a:schemeClr val="dk2"/>
              </a:buClr>
              <a:buSzPts val="1600"/>
            </a:pPr>
            <a:endParaRPr lang="en-IN" dirty="0">
              <a:solidFill>
                <a:schemeClr val="dk2"/>
              </a:solidFill>
            </a:endParaRPr>
          </a:p>
          <a:p>
            <a:pPr marL="127000" lvl="0">
              <a:lnSpc>
                <a:spcPct val="115000"/>
              </a:lnSpc>
              <a:buClr>
                <a:schemeClr val="dk2"/>
              </a:buClr>
              <a:buSzPts val="1600"/>
            </a:pPr>
            <a:r>
              <a:rPr lang="en-IN" dirty="0">
                <a:solidFill>
                  <a:schemeClr val="dk2"/>
                </a:solidFill>
              </a:rPr>
              <a:t>DEVELOPMENT TOOLS</a:t>
            </a:r>
          </a:p>
          <a:p>
            <a:pPr marL="127000" lvl="0">
              <a:lnSpc>
                <a:spcPct val="115000"/>
              </a:lnSpc>
              <a:buClr>
                <a:schemeClr val="dk2"/>
              </a:buClr>
              <a:buSzPts val="1600"/>
            </a:pPr>
            <a:r>
              <a:rPr lang="en-IN" dirty="0">
                <a:solidFill>
                  <a:schemeClr val="dk2"/>
                </a:solidFill>
              </a:rPr>
              <a:t>├─ VS Code (IDE)</a:t>
            </a:r>
          </a:p>
          <a:p>
            <a:pPr marL="127000" lvl="0">
              <a:lnSpc>
                <a:spcPct val="115000"/>
              </a:lnSpc>
              <a:buClr>
                <a:schemeClr val="dk2"/>
              </a:buClr>
              <a:buSzPts val="1600"/>
            </a:pPr>
            <a:r>
              <a:rPr lang="en-IN" dirty="0">
                <a:solidFill>
                  <a:schemeClr val="dk2"/>
                </a:solidFill>
              </a:rPr>
              <a:t>├─ Git (Version control)</a:t>
            </a:r>
          </a:p>
          <a:p>
            <a:pPr marL="127000" lvl="0">
              <a:lnSpc>
                <a:spcPct val="115000"/>
              </a:lnSpc>
              <a:buClr>
                <a:schemeClr val="dk2"/>
              </a:buClr>
              <a:buSzPts val="1600"/>
            </a:pPr>
            <a:r>
              <a:rPr lang="en-IN" dirty="0">
                <a:solidFill>
                  <a:schemeClr val="dk2"/>
                </a:solidFill>
              </a:rPr>
              <a:t>├─ GitHub (Code hosting)</a:t>
            </a:r>
          </a:p>
          <a:p>
            <a:pPr marL="127000" lvl="0">
              <a:lnSpc>
                <a:spcPct val="115000"/>
              </a:lnSpc>
              <a:buClr>
                <a:schemeClr val="dk2"/>
              </a:buClr>
              <a:buSzPts val="1600"/>
            </a:pPr>
            <a:r>
              <a:rPr lang="en-IN" dirty="0">
                <a:solidFill>
                  <a:schemeClr val="dk2"/>
                </a:solidFill>
              </a:rPr>
              <a:t>├─ Postman (API testing)</a:t>
            </a:r>
          </a:p>
          <a:p>
            <a:pPr marL="127000" lvl="0">
              <a:lnSpc>
                <a:spcPct val="115000"/>
              </a:lnSpc>
              <a:buClr>
                <a:schemeClr val="dk2"/>
              </a:buClr>
              <a:buSzPts val="1600"/>
            </a:pPr>
            <a:r>
              <a:rPr lang="en-IN" dirty="0">
                <a:solidFill>
                  <a:schemeClr val="dk2"/>
                </a:solidFill>
              </a:rPr>
              <a:t>└─ Chrome </a:t>
            </a:r>
            <a:r>
              <a:rPr lang="en-IN" dirty="0" err="1">
                <a:solidFill>
                  <a:schemeClr val="dk2"/>
                </a:solidFill>
              </a:rPr>
              <a:t>DevTools</a:t>
            </a:r>
            <a:r>
              <a:rPr lang="en-IN" dirty="0">
                <a:solidFill>
                  <a:schemeClr val="dk2"/>
                </a:solidFill>
              </a:rPr>
              <a:t> (Debugging)</a:t>
            </a:r>
          </a:p>
          <a:p>
            <a:pPr marL="127000" lvl="0">
              <a:lnSpc>
                <a:spcPct val="115000"/>
              </a:lnSpc>
              <a:buClr>
                <a:schemeClr val="dk2"/>
              </a:buClr>
              <a:buSzPts val="1600"/>
            </a:pPr>
            <a:endParaRPr lang="en-IN" dirty="0">
              <a:solidFill>
                <a:schemeClr val="dk2"/>
              </a:solidFill>
            </a:endParaRPr>
          </a:p>
          <a:p>
            <a:pPr marL="127000" lvl="0">
              <a:lnSpc>
                <a:spcPct val="115000"/>
              </a:lnSpc>
              <a:buClr>
                <a:schemeClr val="dk2"/>
              </a:buClr>
              <a:buSzPts val="1600"/>
            </a:pPr>
            <a:r>
              <a:rPr lang="en-IN" dirty="0">
                <a:solidFill>
                  <a:schemeClr val="dk2"/>
                </a:solidFill>
              </a:rPr>
              <a:t>DEPLOYMENT (Current: Local)</a:t>
            </a:r>
          </a:p>
          <a:p>
            <a:pPr marL="127000" lvl="0">
              <a:lnSpc>
                <a:spcPct val="115000"/>
              </a:lnSpc>
              <a:buClr>
                <a:schemeClr val="dk2"/>
              </a:buClr>
              <a:buSzPts val="1600"/>
            </a:pPr>
            <a:r>
              <a:rPr lang="en-IN" dirty="0">
                <a:solidFill>
                  <a:schemeClr val="dk2"/>
                </a:solidFill>
              </a:rPr>
              <a:t>├─ </a:t>
            </a:r>
            <a:r>
              <a:rPr lang="en-IN" dirty="0" err="1">
                <a:solidFill>
                  <a:schemeClr val="dk2"/>
                </a:solidFill>
              </a:rPr>
              <a:t>FastAPI</a:t>
            </a:r>
            <a:r>
              <a:rPr lang="en-IN" dirty="0">
                <a:solidFill>
                  <a:schemeClr val="dk2"/>
                </a:solidFill>
              </a:rPr>
              <a:t>: localhost:8001</a:t>
            </a:r>
          </a:p>
          <a:p>
            <a:pPr marL="127000" lvl="0">
              <a:lnSpc>
                <a:spcPct val="115000"/>
              </a:lnSpc>
              <a:buClr>
                <a:schemeClr val="dk2"/>
              </a:buClr>
              <a:buSzPts val="1600"/>
            </a:pPr>
            <a:r>
              <a:rPr lang="en-IN" dirty="0">
                <a:solidFill>
                  <a:schemeClr val="dk2"/>
                </a:solidFill>
              </a:rPr>
              <a:t>├─ Flutter: Android Emulator / Real device</a:t>
            </a:r>
          </a:p>
          <a:p>
            <a:pPr marL="127000" lvl="0">
              <a:lnSpc>
                <a:spcPct val="115000"/>
              </a:lnSpc>
              <a:buClr>
                <a:schemeClr val="dk2"/>
              </a:buClr>
              <a:buSzPts val="1600"/>
            </a:pPr>
            <a:r>
              <a:rPr lang="en-IN" dirty="0">
                <a:solidFill>
                  <a:schemeClr val="dk2"/>
                </a:solidFill>
              </a:rPr>
              <a:t>└─ Future: Cloud hosting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34" title="hackathon 5 – 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34"/>
          <p:cNvSpPr txBox="1"/>
          <p:nvPr/>
        </p:nvSpPr>
        <p:spPr>
          <a:xfrm>
            <a:off x="311700" y="954000"/>
            <a:ext cx="8520600" cy="40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dirty="0">
                <a:solidFill>
                  <a:schemeClr val="dk1"/>
                </a:solidFill>
              </a:rPr>
              <a:t>User Experience</a:t>
            </a: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●"/>
            </a:pPr>
            <a:r>
              <a:rPr lang="en-GB" sz="1600" dirty="0">
                <a:solidFill>
                  <a:schemeClr val="dk2"/>
                </a:solidFill>
              </a:rPr>
              <a:t>Can a first-time user complete the main task quickly and comfortably?</a:t>
            </a:r>
            <a:endParaRPr sz="1600" dirty="0">
              <a:solidFill>
                <a:schemeClr val="dk2"/>
              </a:solidFill>
            </a:endParaRPr>
          </a:p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-GB" sz="1600" dirty="0">
                <a:solidFill>
                  <a:schemeClr val="dk2"/>
                </a:solidFill>
              </a:rPr>
              <a:t>Is it easy to use on phone and desktop with clear messages?</a:t>
            </a:r>
            <a:endParaRPr sz="16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35" title="hackathon 5 – 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35"/>
          <p:cNvSpPr txBox="1"/>
          <p:nvPr/>
        </p:nvSpPr>
        <p:spPr>
          <a:xfrm>
            <a:off x="311700" y="954000"/>
            <a:ext cx="8520600" cy="40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dirty="0">
                <a:solidFill>
                  <a:schemeClr val="dk1"/>
                </a:solidFill>
              </a:rPr>
              <a:t>Market &amp; Adoption</a:t>
            </a: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●"/>
            </a:pPr>
            <a:r>
              <a:rPr lang="en-GB" sz="1600" dirty="0">
                <a:solidFill>
                  <a:schemeClr val="dk2"/>
                </a:solidFill>
              </a:rPr>
              <a:t>Who will use it first, and how will you reach them?</a:t>
            </a:r>
            <a:endParaRPr sz="1600" dirty="0">
              <a:solidFill>
                <a:schemeClr val="dk2"/>
              </a:solidFill>
            </a:endParaRPr>
          </a:p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-GB" sz="1600" dirty="0">
                <a:solidFill>
                  <a:schemeClr val="dk2"/>
                </a:solidFill>
              </a:rPr>
              <a:t>What is the monthly cost to run, and is it sensible?</a:t>
            </a:r>
            <a:endParaRPr sz="1600" dirty="0">
              <a:solidFill>
                <a:schemeClr val="dk2"/>
              </a:solidFill>
            </a:endParaRPr>
          </a:p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-GB" sz="1600" dirty="0">
                <a:solidFill>
                  <a:schemeClr val="dk2"/>
                </a:solidFill>
              </a:rPr>
              <a:t>What are you next 30-90 days (try/launch/measure)?</a:t>
            </a:r>
            <a:endParaRPr sz="16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7A44DB1F-AEE1-8B1F-CA94-03A21F9B0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35" title="hackathon 5 – 2.png">
            <a:extLst>
              <a:ext uri="{FF2B5EF4-FFF2-40B4-BE49-F238E27FC236}">
                <a16:creationId xmlns:a16="http://schemas.microsoft.com/office/drawing/2014/main" id="{FDA66D43-6CD0-F651-28B0-62FE5FB04A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35">
            <a:extLst>
              <a:ext uri="{FF2B5EF4-FFF2-40B4-BE49-F238E27FC236}">
                <a16:creationId xmlns:a16="http://schemas.microsoft.com/office/drawing/2014/main" id="{4AC80218-4A47-723C-C1C6-CAEE57CA7C02}"/>
              </a:ext>
            </a:extLst>
          </p:cNvPr>
          <p:cNvSpPr txBox="1"/>
          <p:nvPr/>
        </p:nvSpPr>
        <p:spPr>
          <a:xfrm>
            <a:off x="311700" y="954000"/>
            <a:ext cx="8520600" cy="40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</a:t>
            </a:r>
            <a:r>
              <a:rPr lang="en-GB" sz="1600" dirty="0">
                <a:solidFill>
                  <a:schemeClr val="dk1"/>
                </a:solidFill>
              </a:rPr>
              <a:t> be implemented for the future: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contrinuting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Agent.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dirty="0">
                <a:solidFill>
                  <a:schemeClr val="dk1"/>
                </a:solidFill>
              </a:rPr>
              <a:t>Which will handle the swipes in contribution and will give the common </a:t>
            </a:r>
            <a:r>
              <a:rPr lang="en-US" sz="1600" dirty="0" err="1">
                <a:solidFill>
                  <a:schemeClr val="dk1"/>
                </a:solidFill>
              </a:rPr>
              <a:t>itennary</a:t>
            </a:r>
            <a:r>
              <a:rPr lang="en-US" sz="1600" dirty="0">
                <a:solidFill>
                  <a:schemeClr val="dk1"/>
                </a:solidFill>
              </a:rPr>
              <a:t>, for the group (10 members max).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Imtegrate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Mail for the notifications</a:t>
            </a: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●"/>
            </a:pPr>
            <a:r>
              <a:rPr lang="en-GB" sz="1600" dirty="0">
                <a:solidFill>
                  <a:schemeClr val="dk2"/>
                </a:solidFill>
              </a:rPr>
              <a:t>Who will use it first, and how will you reach them?</a:t>
            </a:r>
            <a:endParaRPr sz="1600" dirty="0">
              <a:solidFill>
                <a:schemeClr val="dk2"/>
              </a:solidFill>
            </a:endParaRPr>
          </a:p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-GB" sz="1600" dirty="0">
                <a:solidFill>
                  <a:schemeClr val="dk2"/>
                </a:solidFill>
              </a:rPr>
              <a:t>What is the monthly cost to run, and is it sensible?</a:t>
            </a:r>
            <a:endParaRPr sz="1600" dirty="0">
              <a:solidFill>
                <a:schemeClr val="dk2"/>
              </a:solidFill>
            </a:endParaRPr>
          </a:p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-GB" sz="1600" dirty="0">
                <a:solidFill>
                  <a:schemeClr val="dk2"/>
                </a:solidFill>
              </a:rPr>
              <a:t>What are you next 30-90 days (try/launch/measure)?</a:t>
            </a:r>
            <a:endParaRPr sz="16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05980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7A44DB1F-AEE1-8B1F-CA94-03A21F9B0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35" title="hackathon 5 – 2.png">
            <a:extLst>
              <a:ext uri="{FF2B5EF4-FFF2-40B4-BE49-F238E27FC236}">
                <a16:creationId xmlns:a16="http://schemas.microsoft.com/office/drawing/2014/main" id="{FDA66D43-6CD0-F651-28B0-62FE5FB04A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35">
            <a:extLst>
              <a:ext uri="{FF2B5EF4-FFF2-40B4-BE49-F238E27FC236}">
                <a16:creationId xmlns:a16="http://schemas.microsoft.com/office/drawing/2014/main" id="{4AC80218-4A47-723C-C1C6-CAEE57CA7C02}"/>
              </a:ext>
            </a:extLst>
          </p:cNvPr>
          <p:cNvSpPr txBox="1"/>
          <p:nvPr/>
        </p:nvSpPr>
        <p:spPr>
          <a:xfrm>
            <a:off x="311700" y="954000"/>
            <a:ext cx="8520600" cy="40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</a:t>
            </a:r>
            <a:r>
              <a:rPr lang="en-GB" sz="1600" dirty="0">
                <a:solidFill>
                  <a:schemeClr val="dk1"/>
                </a:solidFill>
              </a:rPr>
              <a:t> be implemented for the future: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contrinuting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Agent.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dirty="0">
                <a:solidFill>
                  <a:schemeClr val="dk1"/>
                </a:solidFill>
              </a:rPr>
              <a:t>Which will handle the swipes in contribution and will give the common </a:t>
            </a:r>
            <a:r>
              <a:rPr lang="en-US" sz="1600" dirty="0" err="1">
                <a:solidFill>
                  <a:schemeClr val="dk1"/>
                </a:solidFill>
              </a:rPr>
              <a:t>itennary</a:t>
            </a:r>
            <a:r>
              <a:rPr lang="en-US" sz="1600" dirty="0">
                <a:solidFill>
                  <a:schemeClr val="dk1"/>
                </a:solidFill>
              </a:rPr>
              <a:t>, for the group (10 members max).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Include the firebase or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firestore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service, instead of the local storage.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dirty="0">
                <a:solidFill>
                  <a:schemeClr val="dk1"/>
                </a:solidFill>
              </a:rPr>
              <a:t>Real time tracking and the notification as per the Google </a:t>
            </a:r>
            <a:r>
              <a:rPr lang="en-US" sz="1600" dirty="0" err="1">
                <a:solidFill>
                  <a:schemeClr val="dk1"/>
                </a:solidFill>
              </a:rPr>
              <a:t>calender</a:t>
            </a:r>
            <a:r>
              <a:rPr lang="en-US" sz="1600">
                <a:solidFill>
                  <a:schemeClr val="dk1"/>
                </a:solidFill>
              </a:rPr>
              <a:t>.</a:t>
            </a: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600375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6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36" title="hackathon 5 – 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951</Words>
  <Application>Microsoft Office PowerPoint</Application>
  <PresentationFormat>On-screen Show (16:9)</PresentationFormat>
  <Paragraphs>159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Google Sans SemiBold</vt:lpstr>
      <vt:lpstr>Segoe UI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Chauhan, Aditya</cp:lastModifiedBy>
  <cp:revision>4</cp:revision>
  <dcterms:modified xsi:type="dcterms:W3CDTF">2025-11-02T06:38:06Z</dcterms:modified>
</cp:coreProperties>
</file>